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1 - Team Lead):</a:t>
            </a:r>
          </a:p>
          <a:p>
            <a:r>
              <a:t>Good morning respected mentor and review panel. Today, our 6-member team is proud to present the Phase 1 Project Review for 'AgriGen AI: Intelligent Multi-Agent Farming Ecosystem'. AgriGen AI addresses critical agricultural challenges through deep learning, multi-agent LLM orchestration, computer vision, and real-time market/weather forecasting. During this presentation, each of our 6 team members will detail their specific engineering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1):</a:t>
            </a:r>
          </a:p>
          <a:p>
            <a:r>
              <a:t>Modern farmers face compounding risks: volatile market prices, localized crop diseases, and unpredicted weather shifts. Our objective with AgriGen AI is to build a unified multi-agent platform that gives every farmer a hyper-personalized digital agronomist right in their pocket.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1):</a:t>
            </a:r>
          </a:p>
          <a:p>
            <a:r>
              <a:t>Here is our system architecture diagram. User queries enter via our React frontend or voice widget, reach FastAPI, and are dispatched to the LangGraph Supervisor. The supervisor dynamically delegates execution to specialized agent nodes. I will now hand over to Member 2 to present the Frontend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2):</a:t>
            </a:r>
          </a:p>
          <a:p>
            <a:r>
              <a:t>Respected panel, as the Frontend Lead, my focus was building a responsive, accessible interface for farmers. We developed a React/Vite dashboard featuring custom charts, an interactive map location picker, and a floating AI assistant widget that supports Hindi and Telugu voice input.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3):</a:t>
            </a:r>
          </a:p>
          <a:p>
            <a:r>
              <a:t>As the Backend Engineer, I designed our asynchronous FastAPI core. Our streaming orchestrator endpoint utilizes Server-Sent Events (SSE), allowing AI agent responses to stream incrementally to the farmer without blocking the server.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4):</a:t>
            </a:r>
          </a:p>
          <a:p>
            <a:r>
              <a:t>My core contribution was building the multi-agent decision engine using LangGraph and RAG. The Supervisor evaluates intent—for example, if a query mentions 'fertilizer advice', it routes to our FAISS vector store containing official ICAR research.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5):</a:t>
            </a:r>
          </a:p>
          <a:p>
            <a:r>
              <a:t>As the ML Lead, I developed our PyTorch models. We have two trained LSTMs—one for 7-day weather forecasting and one for crop price prediction—alongside our Computer Vision module that identifies crop leaf diseases from images.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6):</a:t>
            </a:r>
          </a:p>
          <a:p>
            <a:r>
              <a:t>My role focused on database design, devops, and local launcher orchestration. I implemented an ORM layer supporting PostgreSQL and local SQLite, containerized the platform using Docker, and automated local developer launch via `run_local.ps1`.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1):</a:t>
            </a:r>
          </a:p>
          <a:p>
            <a:r>
              <a:t>We are pleased to report that Phase 1 objectives have been successfully achieved! Our frontend dashboard, FastAPI backend, multi-agent supervisor, PyTorch models, and RAG knowledge base are fully integrated and running smoothly.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3 &amp; 4):</a:t>
            </a:r>
          </a:p>
          <a:p>
            <a:r>
              <a:t>During Phase 1, we tackled critical engineering hurdles. We solved LLM hallucinations using FAISS RAG grounding, eliminated latency using SSE streaming, and bypassed Windows DLL restrictions with a custom hashlib patch.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5):</a:t>
            </a:r>
          </a:p>
          <a:p>
            <a:r>
              <a:t>Looking ahead to Phase 2, our roadmap includes deploying edge vision models for offline mobile use, integrating IoT smart irrigation controllers, and incorporating satellite crop telemetry.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6):</a:t>
            </a:r>
          </a:p>
          <a:p>
            <a:r>
              <a:t>This matrix details the clear distribution of responsibilities across our 6 team members. Every member has taken ownership of a major component of the AgriGen AI stack.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2):</a:t>
            </a:r>
          </a:p>
          <a:p>
            <a:r>
              <a:t>We demonstrate our live execution flow: from farmer input to LangGraph routing, PyTorch inference, FAISS retrieval, and instant UI rendering.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(Member 1 &amp; All):</a:t>
            </a:r>
          </a:p>
          <a:p>
            <a:r>
              <a:t>In conclusion, AgriGen AI represents a major step forward in accessible agricultural intelligence. Thank you for your time and guidance. We are now open for questions and feedback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1E293B"/>
          </a:solidFill>
          <a:ln w="254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457200" tIns="457200"/>
          <a:lstStyle/>
          <a:p>
            <a:pPr algn="ctr">
              <a:spcAft>
                <a:spcPts val="800"/>
              </a:spcAft>
              <a:defRPr sz="2800" b="1">
                <a:solidFill>
                  <a:srgbClr val="34D399"/>
                </a:solidFill>
              </a:defRPr>
            </a:pPr>
            <a:r>
              <a:t>AgriGen AI: Intelligent Multi-Agent Farming Ecosystem</a:t>
            </a:r>
          </a:p>
          <a:p>
            <a:pPr>
              <a:spcAft>
                <a:spcPts val="2400"/>
              </a:spcAft>
              <a:defRPr sz="1800">
                <a:solidFill>
                  <a:srgbClr val="F8FAFC"/>
                </a:solidFill>
              </a:defRPr>
            </a:pPr>
            <a:r>
              <a:t>Phase 1 Comprehensive Project Review Presentation</a:t>
            </a:r>
          </a:p>
          <a:p>
            <a:pPr>
              <a:spcAft>
                <a:spcPts val="1000"/>
              </a:spcAft>
              <a:defRPr sz="1400" b="1">
                <a:solidFill>
                  <a:srgbClr val="38BDF8"/>
                </a:solidFill>
              </a:defRPr>
            </a:pPr>
            <a:r>
              <a:t>👥 Team Members &amp; Roles (6-Member Team):</a:t>
            </a:r>
          </a:p>
          <a:p>
            <a:pPr>
              <a:spcAft>
                <a:spcPts val="400"/>
              </a:spcAft>
              <a:defRPr sz="1100">
                <a:solidFill>
                  <a:srgbClr val="F8FAFC"/>
                </a:solidFill>
              </a:defRPr>
            </a:pPr>
            <a:r>
              <a:t>1. Member 1 (Team Lead &amp; Product Architect) — System Architecture, Phase 1 Progress &amp; Strategy</a:t>
            </a:r>
          </a:p>
          <a:p>
            <a:pPr>
              <a:spcAft>
                <a:spcPts val="400"/>
              </a:spcAft>
              <a:defRPr sz="1100">
                <a:solidFill>
                  <a:srgbClr val="F8FAFC"/>
                </a:solidFill>
              </a:defRPr>
            </a:pPr>
            <a:r>
              <a:t>2. Member 2 (Frontend &amp; UI/UX Lead) — React/Vite Dashboard, Multilingual Voice &amp; Scanner UI</a:t>
            </a:r>
          </a:p>
          <a:p>
            <a:pPr>
              <a:spcAft>
                <a:spcPts val="400"/>
              </a:spcAft>
              <a:defRPr sz="1100">
                <a:solidFill>
                  <a:srgbClr val="F8FAFC"/>
                </a:solidFill>
              </a:defRPr>
            </a:pPr>
            <a:r>
              <a:t>3. Member 3 (Backend &amp; Orchestration Lead) — FastAPI Microservices, Async SSE Streaming &amp; Routes</a:t>
            </a:r>
          </a:p>
          <a:p>
            <a:pPr>
              <a:spcAft>
                <a:spcPts val="400"/>
              </a:spcAft>
              <a:defRPr sz="1100">
                <a:solidFill>
                  <a:srgbClr val="F8FAFC"/>
                </a:solidFill>
              </a:defRPr>
            </a:pPr>
            <a:r>
              <a:t>4. Member 4 (Multi-Agent &amp; RAG Specialist) — LangGraph Supervisor, FAISS Vector Knowledge Base</a:t>
            </a:r>
          </a:p>
          <a:p>
            <a:pPr>
              <a:spcAft>
                <a:spcPts val="400"/>
              </a:spcAft>
              <a:defRPr sz="1100">
                <a:solidFill>
                  <a:srgbClr val="F8FAFC"/>
                </a:solidFill>
              </a:defRPr>
            </a:pPr>
            <a:r>
              <a:t>5. Member 5 (Machine Learning &amp; Vision Lead) — PyTorch LSTM (Weather &amp; Market) &amp; Disease Vision</a:t>
            </a:r>
          </a:p>
          <a:p>
            <a:pPr>
              <a:spcAft>
                <a:spcPts val="400"/>
              </a:spcAft>
              <a:defRPr sz="1100">
                <a:solidFill>
                  <a:srgbClr val="F8FAFC"/>
                </a:solidFill>
              </a:defRPr>
            </a:pPr>
            <a:r>
              <a:t>6. Member 6 (DevOps &amp; Database Integration Lead) — PostgreSQL/SQLite Data Models, Docker &amp; Scripts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Problem Statement &amp; Project Objectives</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1 (Team Leader)</a:t>
            </a:r>
          </a:p>
        </p:txBody>
      </p:sp>
      <p:sp>
        <p:nvSpPr>
          <p:cNvPr id="5" name="Rounded Rectangle 4"/>
          <p:cNvSpPr/>
          <p:nvPr/>
        </p:nvSpPr>
        <p:spPr>
          <a:xfrm>
            <a:off x="731520" y="1463040"/>
            <a:ext cx="5120640" cy="4754880"/>
          </a:xfrm>
          <a:prstGeom prst="round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Agricultural Challenges</a:t>
            </a:r>
          </a:p>
          <a:p>
            <a:pPr>
              <a:spcAft>
                <a:spcPts val="600"/>
              </a:spcAft>
              <a:defRPr sz="1200">
                <a:solidFill>
                  <a:srgbClr val="F8FAFC"/>
                </a:solidFill>
              </a:defRPr>
            </a:pPr>
            <a:r>
              <a:t>•  Price Volatility: Farmers sell crops blindly without historical trend forecasts.</a:t>
            </a:r>
          </a:p>
          <a:p>
            <a:pPr>
              <a:spcAft>
                <a:spcPts val="600"/>
              </a:spcAft>
              <a:defRPr sz="1200">
                <a:solidFill>
                  <a:srgbClr val="F8FAFC"/>
                </a:solidFill>
              </a:defRPr>
            </a:pPr>
            <a:r>
              <a:t>•  Micro-Climate Surprises: Generic weather forecasts lack farm-level precision.</a:t>
            </a:r>
          </a:p>
          <a:p>
            <a:pPr>
              <a:spcAft>
                <a:spcPts val="600"/>
              </a:spcAft>
              <a:defRPr sz="1200">
                <a:solidFill>
                  <a:srgbClr val="F8FAFC"/>
                </a:solidFill>
              </a:defRPr>
            </a:pPr>
            <a:r>
              <a:t>•  Crop Disease Losses: Delayed leaf pest/disease diagnosis leads to total crop destruction.</a:t>
            </a:r>
          </a:p>
          <a:p>
            <a:pPr>
              <a:spcAft>
                <a:spcPts val="600"/>
              </a:spcAft>
              <a:defRPr sz="1200">
                <a:solidFill>
                  <a:srgbClr val="F8FAFC"/>
                </a:solidFill>
              </a:defRPr>
            </a:pPr>
            <a:r>
              <a:t>•  Information Silos &amp; Language Barrier: Research papers are inaccessible; rural farmers struggle with text-only English apps.</a:t>
            </a:r>
          </a:p>
        </p:txBody>
      </p:sp>
      <p:sp>
        <p:nvSpPr>
          <p:cNvPr id="6" name="Rounded Rectangle 5"/>
          <p:cNvSpPr/>
          <p:nvPr/>
        </p:nvSpPr>
        <p:spPr>
          <a:xfrm>
            <a:off x="6217920" y="1463040"/>
            <a:ext cx="521208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AgriGen AI Objectives</a:t>
            </a:r>
          </a:p>
          <a:p>
            <a:pPr>
              <a:spcAft>
                <a:spcPts val="600"/>
              </a:spcAft>
              <a:defRPr sz="1200">
                <a:solidFill>
                  <a:srgbClr val="F8FAFC"/>
                </a:solidFill>
              </a:defRPr>
            </a:pPr>
            <a:r>
              <a:t>•  Multi-Agent Intelligence: Deploy specialist agents using LangGraph &amp; Llama-3.</a:t>
            </a:r>
          </a:p>
          <a:p>
            <a:pPr>
              <a:spcAft>
                <a:spcPts val="600"/>
              </a:spcAft>
              <a:defRPr sz="1200">
                <a:solidFill>
                  <a:srgbClr val="F8FAFC"/>
                </a:solidFill>
              </a:defRPr>
            </a:pPr>
            <a:r>
              <a:t>•  LSTM Predictive Engines: Provide 7-day weather &amp; crop price forecasts with peak profit alerts.</a:t>
            </a:r>
          </a:p>
          <a:p>
            <a:pPr>
              <a:spcAft>
                <a:spcPts val="600"/>
              </a:spcAft>
              <a:defRPr sz="1200">
                <a:solidFill>
                  <a:srgbClr val="F8FAFC"/>
                </a:solidFill>
              </a:defRPr>
            </a:pPr>
            <a:r>
              <a:t>•  Instant Vision Diagnostics: Computer vision to scan leaves and prescribe actionable remedies.</a:t>
            </a:r>
          </a:p>
          <a:p>
            <a:pPr>
              <a:spcAft>
                <a:spcPts val="600"/>
              </a:spcAft>
              <a:defRPr sz="1200">
                <a:solidFill>
                  <a:srgbClr val="F8FAFC"/>
                </a:solidFill>
              </a:defRPr>
            </a:pPr>
            <a:r>
              <a:t>•  RAG Agricultural Advisory: FAISS vector database indexed with verified research papers.</a:t>
            </a:r>
          </a:p>
          <a:p>
            <a:pPr>
              <a:spcAft>
                <a:spcPts val="600"/>
              </a:spcAft>
              <a:defRPr sz="1200">
                <a:solidFill>
                  <a:srgbClr val="F8FAFC"/>
                </a:solidFill>
              </a:defRPr>
            </a:pPr>
            <a:r>
              <a:t>•  Multilingual Voice Interface: Native English, Hindi, and Telugu speech interaction.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System Architecture &amp; High-Level Workflow</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1 (Team Leader)</a:t>
            </a:r>
          </a:p>
        </p:txBody>
      </p:sp>
      <p:sp>
        <p:nvSpPr>
          <p:cNvPr id="5" name="Rounded Rectangle 4"/>
          <p:cNvSpPr/>
          <p:nvPr/>
        </p:nvSpPr>
        <p:spPr>
          <a:xfrm>
            <a:off x="731520" y="1463040"/>
            <a:ext cx="411480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Core Architectural Pillars</a:t>
            </a:r>
          </a:p>
          <a:p>
            <a:pPr>
              <a:spcAft>
                <a:spcPts val="600"/>
              </a:spcAft>
              <a:defRPr sz="1200">
                <a:solidFill>
                  <a:srgbClr val="F8FAFC"/>
                </a:solidFill>
              </a:defRPr>
            </a:pPr>
            <a:r>
              <a:t>•  Decoupled Microservices: React Frontend + FastAPI Async Backend.</a:t>
            </a:r>
          </a:p>
          <a:p>
            <a:pPr>
              <a:spcAft>
                <a:spcPts val="600"/>
              </a:spcAft>
              <a:defRPr sz="1200">
                <a:solidFill>
                  <a:srgbClr val="F8FAFC"/>
                </a:solidFill>
              </a:defRPr>
            </a:pPr>
            <a:r>
              <a:t>•  Stateful Multi-Agent Graph: LangGraph Supervisor manages node state transitions.</a:t>
            </a:r>
          </a:p>
          <a:p>
            <a:pPr>
              <a:spcAft>
                <a:spcPts val="600"/>
              </a:spcAft>
              <a:defRPr sz="1200">
                <a:solidFill>
                  <a:srgbClr val="F8FAFC"/>
                </a:solidFill>
              </a:defRPr>
            </a:pPr>
            <a:r>
              <a:t>•  Hybrid Predictive Analytics: PyTorch LSTMs + Computer Vision + FAISS Vector DB.</a:t>
            </a:r>
          </a:p>
          <a:p>
            <a:pPr>
              <a:spcAft>
                <a:spcPts val="600"/>
              </a:spcAft>
              <a:defRPr sz="1200">
                <a:solidFill>
                  <a:srgbClr val="F8FAFC"/>
                </a:solidFill>
              </a:defRPr>
            </a:pPr>
            <a:r>
              <a:t>•  Dual Storage Strategy: PostgreSQL for relational persistence, Redis for caching &amp; state memory.</a:t>
            </a:r>
          </a:p>
        </p:txBody>
      </p:sp>
      <p:pic>
        <p:nvPicPr>
          <p:cNvPr id="6" name="Picture 5" descr="system_architecture.png"/>
          <p:cNvPicPr>
            <a:picLocks noChangeAspect="1"/>
          </p:cNvPicPr>
          <p:nvPr/>
        </p:nvPicPr>
        <p:blipFill>
          <a:blip r:embed="rId2"/>
          <a:stretch>
            <a:fillRect/>
          </a:stretch>
        </p:blipFill>
        <p:spPr>
          <a:xfrm>
            <a:off x="5029200" y="1463040"/>
            <a:ext cx="6400800" cy="47548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Frontend Dashboard &amp; UI/UX Architecture</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2 (Frontend Specialist)</a:t>
            </a:r>
          </a:p>
        </p:txBody>
      </p:sp>
      <p:sp>
        <p:nvSpPr>
          <p:cNvPr id="5" name="Rounded Rectangle 4"/>
          <p:cNvSpPr/>
          <p:nvPr/>
        </p:nvSpPr>
        <p:spPr>
          <a:xfrm>
            <a:off x="731520" y="1463040"/>
            <a:ext cx="512064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User Interface &amp; Experience</a:t>
            </a:r>
          </a:p>
          <a:p>
            <a:pPr>
              <a:spcAft>
                <a:spcPts val="600"/>
              </a:spcAft>
              <a:defRPr sz="1200">
                <a:solidFill>
                  <a:srgbClr val="F8FAFC"/>
                </a:solidFill>
              </a:defRPr>
            </a:pPr>
            <a:r>
              <a:t>•  Vite + React Core: Built for ultra-fast startup and smooth client-side interactions.</a:t>
            </a:r>
          </a:p>
          <a:p>
            <a:pPr>
              <a:spcAft>
                <a:spcPts val="600"/>
              </a:spcAft>
              <a:defRPr sz="1200">
                <a:solidFill>
                  <a:srgbClr val="F8FAFC"/>
                </a:solidFill>
              </a:defRPr>
            </a:pPr>
            <a:r>
              <a:t>•  Custom Agricultural Design System: Earthy dark palette, glassmorphism, tailored typography.</a:t>
            </a:r>
          </a:p>
          <a:p>
            <a:pPr>
              <a:spcAft>
                <a:spcPts val="600"/>
              </a:spcAft>
              <a:defRPr sz="1200">
                <a:solidFill>
                  <a:srgbClr val="F8FAFC"/>
                </a:solidFill>
              </a:defRPr>
            </a:pPr>
            <a:r>
              <a:t>•  Interactive Analytics: Dynamic Chart.js integration for price trends &amp; moisture metrics.</a:t>
            </a:r>
          </a:p>
          <a:p>
            <a:pPr>
              <a:spcAft>
                <a:spcPts val="600"/>
              </a:spcAft>
              <a:defRPr sz="1200">
                <a:solidFill>
                  <a:srgbClr val="F8FAFC"/>
                </a:solidFill>
              </a:defRPr>
            </a:pPr>
            <a:r>
              <a:t>•  Location Picker Modal: Interactive GPS coordinate selector and field selector bar.</a:t>
            </a:r>
          </a:p>
        </p:txBody>
      </p:sp>
      <p:sp>
        <p:nvSpPr>
          <p:cNvPr id="6" name="Rounded Rectangle 5"/>
          <p:cNvSpPr/>
          <p:nvPr/>
        </p:nvSpPr>
        <p:spPr>
          <a:xfrm>
            <a:off x="6217920" y="1463040"/>
            <a:ext cx="52120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Multilingual Assistant Widget</a:t>
            </a:r>
          </a:p>
          <a:p>
            <a:pPr>
              <a:spcAft>
                <a:spcPts val="600"/>
              </a:spcAft>
              <a:defRPr sz="1200">
                <a:solidFill>
                  <a:srgbClr val="F8FAFC"/>
                </a:solidFill>
              </a:defRPr>
            </a:pPr>
            <a:r>
              <a:t>•  Floating Chat Widget: Persistent bottom-right drawer supporting rich Markdown responses.</a:t>
            </a:r>
          </a:p>
          <a:p>
            <a:pPr>
              <a:spcAft>
                <a:spcPts val="600"/>
              </a:spcAft>
              <a:defRPr sz="1200">
                <a:solidFill>
                  <a:srgbClr val="F8FAFC"/>
                </a:solidFill>
              </a:defRPr>
            </a:pPr>
            <a:r>
              <a:t>•  Voice Input / Output: Browser STT/TTS engine supporting English, Hindi, and Telugu.</a:t>
            </a:r>
          </a:p>
          <a:p>
            <a:pPr>
              <a:spcAft>
                <a:spcPts val="600"/>
              </a:spcAft>
              <a:defRPr sz="1200">
                <a:solidFill>
                  <a:srgbClr val="F8FAFC"/>
                </a:solidFill>
              </a:defRPr>
            </a:pPr>
            <a:r>
              <a:t>•  Drag-and-Drop Image Uploader: Instant leaf photo scanning for disease identification.</a:t>
            </a:r>
          </a:p>
          <a:p>
            <a:pPr>
              <a:spcAft>
                <a:spcPts val="600"/>
              </a:spcAft>
              <a:defRPr sz="1200">
                <a:solidFill>
                  <a:srgbClr val="F8FAFC"/>
                </a:solidFill>
              </a:defRPr>
            </a:pPr>
            <a:r>
              <a:t>•  Persistent User Memory: LocalStorage session preservation across chat resets.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Backend Microservices &amp; Orchestration Layer</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3 (Backend Engineer)</a:t>
            </a:r>
          </a:p>
        </p:txBody>
      </p:sp>
      <p:sp>
        <p:nvSpPr>
          <p:cNvPr id="5" name="Rounded Rectangle 4"/>
          <p:cNvSpPr/>
          <p:nvPr/>
        </p:nvSpPr>
        <p:spPr>
          <a:xfrm>
            <a:off x="731520" y="1463040"/>
            <a:ext cx="512064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FastAPI Microservices Architecture</a:t>
            </a:r>
          </a:p>
          <a:p>
            <a:pPr>
              <a:spcAft>
                <a:spcPts val="600"/>
              </a:spcAft>
              <a:defRPr sz="1200">
                <a:solidFill>
                  <a:srgbClr val="F8FAFC"/>
                </a:solidFill>
              </a:defRPr>
            </a:pPr>
            <a:r>
              <a:t>•  Async Python Engine: Built on FastAPI and Uvicorn for high-concurrency request handling.</a:t>
            </a:r>
          </a:p>
          <a:p>
            <a:pPr>
              <a:spcAft>
                <a:spcPts val="600"/>
              </a:spcAft>
              <a:defRPr sz="1200">
                <a:solidFill>
                  <a:srgbClr val="F8FAFC"/>
                </a:solidFill>
              </a:defRPr>
            </a:pPr>
            <a:r>
              <a:t>•  Modular V1 API Routing: Clean separation across auth, weather, market, disease, and report routes.</a:t>
            </a:r>
          </a:p>
          <a:p>
            <a:pPr>
              <a:spcAft>
                <a:spcPts val="600"/>
              </a:spcAft>
              <a:defRPr sz="1200">
                <a:solidFill>
                  <a:srgbClr val="F8FAFC"/>
                </a:solidFill>
              </a:defRPr>
            </a:pPr>
            <a:r>
              <a:t>•  Pydantic Validation: Strict schema validation for all API inputs and structured outputs.</a:t>
            </a:r>
          </a:p>
          <a:p>
            <a:pPr>
              <a:spcAft>
                <a:spcPts val="600"/>
              </a:spcAft>
              <a:defRPr sz="1200">
                <a:solidFill>
                  <a:srgbClr val="F8FAFC"/>
                </a:solidFill>
              </a:defRPr>
            </a:pPr>
            <a:r>
              <a:t>•  CORS &amp; Security Controls: Configured middleware with environment variable isolation.</a:t>
            </a:r>
          </a:p>
        </p:txBody>
      </p:sp>
      <p:sp>
        <p:nvSpPr>
          <p:cNvPr id="6" name="Rounded Rectangle 5"/>
          <p:cNvSpPr/>
          <p:nvPr/>
        </p:nvSpPr>
        <p:spPr>
          <a:xfrm>
            <a:off x="6217920" y="1463040"/>
            <a:ext cx="521208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Real-Time Streaming &amp; Orchestrator</a:t>
            </a:r>
          </a:p>
          <a:p>
            <a:pPr>
              <a:spcAft>
                <a:spcPts val="600"/>
              </a:spcAft>
              <a:defRPr sz="1200">
                <a:solidFill>
                  <a:srgbClr val="F8FAFC"/>
                </a:solidFill>
              </a:defRPr>
            </a:pPr>
            <a:r>
              <a:t>•  SSE Streaming Endpoint (`/api/v1/orchestrator/chat`): Real-time token streaming to frontend.</a:t>
            </a:r>
          </a:p>
          <a:p>
            <a:pPr>
              <a:spcAft>
                <a:spcPts val="600"/>
              </a:spcAft>
              <a:defRPr sz="1200">
                <a:solidFill>
                  <a:srgbClr val="F8FAFC"/>
                </a:solidFill>
              </a:defRPr>
            </a:pPr>
            <a:r>
              <a:t>•  Stateful Session Management: Tracks conversation histories and user preferences in memory.</a:t>
            </a:r>
          </a:p>
          <a:p>
            <a:pPr>
              <a:spcAft>
                <a:spcPts val="600"/>
              </a:spcAft>
              <a:defRPr sz="1200">
                <a:solidFill>
                  <a:srgbClr val="F8FAFC"/>
                </a:solidFill>
              </a:defRPr>
            </a:pPr>
            <a:r>
              <a:t>•  WeasyPrint PDF Generator: Asynchronous trigger for weekly summary PDF reports.</a:t>
            </a:r>
          </a:p>
          <a:p>
            <a:pPr>
              <a:spcAft>
                <a:spcPts val="600"/>
              </a:spcAft>
              <a:defRPr sz="1200">
                <a:solidFill>
                  <a:srgbClr val="F8FAFC"/>
                </a:solidFill>
              </a:defRPr>
            </a:pPr>
            <a:r>
              <a:t>•  Error Middleware: Graceful exception handling and fallback logging.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LangGraph Multi-Agent Router &amp; RAG Advisory Engine</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4 (Multi-Agent Lead)</a:t>
            </a:r>
          </a:p>
        </p:txBody>
      </p:sp>
      <p:sp>
        <p:nvSpPr>
          <p:cNvPr id="5" name="Rounded Rectangle 4"/>
          <p:cNvSpPr/>
          <p:nvPr/>
        </p:nvSpPr>
        <p:spPr>
          <a:xfrm>
            <a:off x="731520" y="1463040"/>
            <a:ext cx="512064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LangGraph Supervisor Workflow</a:t>
            </a:r>
          </a:p>
          <a:p>
            <a:pPr>
              <a:spcAft>
                <a:spcPts val="600"/>
              </a:spcAft>
              <a:defRPr sz="1200">
                <a:solidFill>
                  <a:srgbClr val="F8FAFC"/>
                </a:solidFill>
              </a:defRPr>
            </a:pPr>
            <a:r>
              <a:t>•  Directed Acyclic Graph (DAG): Implements state-machine routing powered by LLMs.</a:t>
            </a:r>
          </a:p>
          <a:p>
            <a:pPr>
              <a:spcAft>
                <a:spcPts val="600"/>
              </a:spcAft>
              <a:defRPr sz="1200">
                <a:solidFill>
                  <a:srgbClr val="F8FAFC"/>
                </a:solidFill>
              </a:defRPr>
            </a:pPr>
            <a:r>
              <a:t>•  Intent Router: Evaluates incoming prompt and context to assign the optimal agent.</a:t>
            </a:r>
          </a:p>
          <a:p>
            <a:pPr>
              <a:spcAft>
                <a:spcPts val="600"/>
              </a:spcAft>
              <a:defRPr sz="1200">
                <a:solidFill>
                  <a:srgbClr val="F8FAFC"/>
                </a:solidFill>
              </a:defRPr>
            </a:pPr>
            <a:r>
              <a:t>•  Specialist Nodes: Dedicated nodes for Weather, Market, Disease, and Knowledge RAG.</a:t>
            </a:r>
          </a:p>
          <a:p>
            <a:pPr>
              <a:spcAft>
                <a:spcPts val="600"/>
              </a:spcAft>
              <a:defRPr sz="1200">
                <a:solidFill>
                  <a:srgbClr val="F8FAFC"/>
                </a:solidFill>
              </a:defRPr>
            </a:pPr>
            <a:r>
              <a:t>•  State Preservation: State dictionary maintains thread history and agent decisions.</a:t>
            </a:r>
          </a:p>
        </p:txBody>
      </p:sp>
      <p:sp>
        <p:nvSpPr>
          <p:cNvPr id="6" name="Rounded Rectangle 5"/>
          <p:cNvSpPr/>
          <p:nvPr/>
        </p:nvSpPr>
        <p:spPr>
          <a:xfrm>
            <a:off x="6217920" y="1463040"/>
            <a:ext cx="5212080" cy="4754880"/>
          </a:xfrm>
          <a:prstGeom prst="round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FAISS RAG Knowledge Engine</a:t>
            </a:r>
          </a:p>
          <a:p>
            <a:pPr>
              <a:spcAft>
                <a:spcPts val="600"/>
              </a:spcAft>
              <a:defRPr sz="1200">
                <a:solidFill>
                  <a:srgbClr val="F8FAFC"/>
                </a:solidFill>
              </a:defRPr>
            </a:pPr>
            <a:r>
              <a:t>•  Curated Agriculture Dataset: Indexed ICAR research papers, soil health data &amp; subsidies.</a:t>
            </a:r>
          </a:p>
          <a:p>
            <a:pPr>
              <a:spcAft>
                <a:spcPts val="600"/>
              </a:spcAft>
              <a:defRPr sz="1200">
                <a:solidFill>
                  <a:srgbClr val="F8FAFC"/>
                </a:solidFill>
              </a:defRPr>
            </a:pPr>
            <a:r>
              <a:t>•  Vector Embeddings: Uses HuggingFace all-MiniLM-L6-v2 embeddings for fast retrieval.</a:t>
            </a:r>
          </a:p>
          <a:p>
            <a:pPr>
              <a:spcAft>
                <a:spcPts val="600"/>
              </a:spcAft>
              <a:defRPr sz="1200">
                <a:solidFill>
                  <a:srgbClr val="F8FAFC"/>
                </a:solidFill>
              </a:defRPr>
            </a:pPr>
            <a:r>
              <a:t>•  Similarity Thresholding: Mitigates LLM hallucinations by retrieving top-k verified context chunks.</a:t>
            </a:r>
          </a:p>
          <a:p>
            <a:pPr>
              <a:spcAft>
                <a:spcPts val="600"/>
              </a:spcAft>
              <a:defRPr sz="1200">
                <a:solidFill>
                  <a:srgbClr val="F8FAFC"/>
                </a:solidFill>
              </a:defRPr>
            </a:pPr>
            <a:r>
              <a:t>•  Grounded Advisory: Formulates actionable farmer responses strictly supported by retrieved facts.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Predictive Analytics &amp; Deep Learning Models</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5 (Machine Learning Lead)</a:t>
            </a:r>
          </a:p>
        </p:txBody>
      </p:sp>
      <p:sp>
        <p:nvSpPr>
          <p:cNvPr id="5" name="Rounded Rectangle 4"/>
          <p:cNvSpPr/>
          <p:nvPr/>
        </p:nvSpPr>
        <p:spPr>
          <a:xfrm>
            <a:off x="731520" y="1463040"/>
            <a:ext cx="33832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Weather LSTM Model</a:t>
            </a:r>
          </a:p>
          <a:p>
            <a:pPr>
              <a:spcAft>
                <a:spcPts val="600"/>
              </a:spcAft>
              <a:defRPr sz="1200">
                <a:solidFill>
                  <a:srgbClr val="F8FAFC"/>
                </a:solidFill>
              </a:defRPr>
            </a:pPr>
            <a:r>
              <a:t>•  PyTorch Architecture: Sequential LSTM network.</a:t>
            </a:r>
          </a:p>
          <a:p>
            <a:pPr>
              <a:spcAft>
                <a:spcPts val="600"/>
              </a:spcAft>
              <a:defRPr sz="1200">
                <a:solidFill>
                  <a:srgbClr val="F8FAFC"/>
                </a:solidFill>
              </a:defRPr>
            </a:pPr>
            <a:r>
              <a:t>•  Inputs: Historical temp, humidity, pressure, rainfall.</a:t>
            </a:r>
          </a:p>
          <a:p>
            <a:pPr>
              <a:spcAft>
                <a:spcPts val="600"/>
              </a:spcAft>
              <a:defRPr sz="1200">
                <a:solidFill>
                  <a:srgbClr val="F8FAFC"/>
                </a:solidFill>
              </a:defRPr>
            </a:pPr>
            <a:r>
              <a:t>•  Output: 7-day micro-climate precipitation &amp; humidity trend.</a:t>
            </a:r>
          </a:p>
          <a:p>
            <a:pPr>
              <a:spcAft>
                <a:spcPts val="600"/>
              </a:spcAft>
              <a:defRPr sz="1200">
                <a:solidFill>
                  <a:srgbClr val="F8FAFC"/>
                </a:solidFill>
              </a:defRPr>
            </a:pPr>
            <a:r>
              <a:t>•  Accuracy: High R² score on local weather datasets.</a:t>
            </a:r>
          </a:p>
        </p:txBody>
      </p:sp>
      <p:sp>
        <p:nvSpPr>
          <p:cNvPr id="6" name="Rounded Rectangle 5"/>
          <p:cNvSpPr/>
          <p:nvPr/>
        </p:nvSpPr>
        <p:spPr>
          <a:xfrm>
            <a:off x="4389120" y="1463040"/>
            <a:ext cx="338328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Market LSTM Model</a:t>
            </a:r>
          </a:p>
          <a:p>
            <a:pPr>
              <a:spcAft>
                <a:spcPts val="600"/>
              </a:spcAft>
              <a:defRPr sz="1200">
                <a:solidFill>
                  <a:srgbClr val="F8FAFC"/>
                </a:solidFill>
              </a:defRPr>
            </a:pPr>
            <a:r>
              <a:t>•  Price Forecasting: Predicts mandi prices for major crops.</a:t>
            </a:r>
          </a:p>
          <a:p>
            <a:pPr>
              <a:spcAft>
                <a:spcPts val="600"/>
              </a:spcAft>
              <a:defRPr sz="1200">
                <a:solidFill>
                  <a:srgbClr val="F8FAFC"/>
                </a:solidFill>
              </a:defRPr>
            </a:pPr>
            <a:r>
              <a:t>•  Profitability Peak Alert: Identifies optimal selling window.</a:t>
            </a:r>
          </a:p>
          <a:p>
            <a:pPr>
              <a:spcAft>
                <a:spcPts val="600"/>
              </a:spcAft>
              <a:defRPr sz="1200">
                <a:solidFill>
                  <a:srgbClr val="F8FAFC"/>
                </a:solidFill>
              </a:defRPr>
            </a:pPr>
            <a:r>
              <a:t>•  Mandi Integration: Dynamic price tracking for regional markets.</a:t>
            </a:r>
          </a:p>
        </p:txBody>
      </p:sp>
      <p:sp>
        <p:nvSpPr>
          <p:cNvPr id="7" name="Rounded Rectangle 6"/>
          <p:cNvSpPr/>
          <p:nvPr/>
        </p:nvSpPr>
        <p:spPr>
          <a:xfrm>
            <a:off x="8046720" y="1463040"/>
            <a:ext cx="3383280" cy="4754880"/>
          </a:xfrm>
          <a:prstGeom prst="round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Leaf Disease Vision</a:t>
            </a:r>
          </a:p>
          <a:p>
            <a:pPr>
              <a:spcAft>
                <a:spcPts val="600"/>
              </a:spcAft>
              <a:defRPr sz="1200">
                <a:solidFill>
                  <a:srgbClr val="F8FAFC"/>
                </a:solidFill>
              </a:defRPr>
            </a:pPr>
            <a:r>
              <a:t>•  CNN / Vision Classifier: Scans crop leaves for early pest/disease detection.</a:t>
            </a:r>
          </a:p>
          <a:p>
            <a:pPr>
              <a:spcAft>
                <a:spcPts val="600"/>
              </a:spcAft>
              <a:defRPr sz="1200">
                <a:solidFill>
                  <a:srgbClr val="F8FAFC"/>
                </a:solidFill>
              </a:defRPr>
            </a:pPr>
            <a:r>
              <a:t>•  Confidence Scoring: Outputs disease probability &amp; severity level.</a:t>
            </a:r>
          </a:p>
          <a:p>
            <a:pPr>
              <a:spcAft>
                <a:spcPts val="600"/>
              </a:spcAft>
              <a:defRPr sz="1200">
                <a:solidFill>
                  <a:srgbClr val="F8FAFC"/>
                </a:solidFill>
              </a:defRPr>
            </a:pPr>
            <a:r>
              <a:t>•  Treatment Link: Directly maps detected disease to organic &amp; chemical treatments.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Database Architecture, DevOps &amp; Infrastructure</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6 (DevOps &amp; Database Lead)</a:t>
            </a:r>
          </a:p>
        </p:txBody>
      </p:sp>
      <p:sp>
        <p:nvSpPr>
          <p:cNvPr id="5" name="Rounded Rectangle 4"/>
          <p:cNvSpPr/>
          <p:nvPr/>
        </p:nvSpPr>
        <p:spPr>
          <a:xfrm>
            <a:off x="731520" y="1463040"/>
            <a:ext cx="512064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Data Storage &amp; Schema Design</a:t>
            </a:r>
          </a:p>
          <a:p>
            <a:pPr>
              <a:spcAft>
                <a:spcPts val="600"/>
              </a:spcAft>
              <a:defRPr sz="1200">
                <a:solidFill>
                  <a:srgbClr val="F8FAFC"/>
                </a:solidFill>
              </a:defRPr>
            </a:pPr>
            <a:r>
              <a:t>•  SQLAlchemy ORM: Unified data access layer across environments.</a:t>
            </a:r>
          </a:p>
          <a:p>
            <a:pPr>
              <a:spcAft>
                <a:spcPts val="600"/>
              </a:spcAft>
              <a:defRPr sz="1200">
                <a:solidFill>
                  <a:srgbClr val="F8FAFC"/>
                </a:solidFill>
              </a:defRPr>
            </a:pPr>
            <a:r>
              <a:t>•  Production PostgreSQL &amp; Local SQLite: Seamless fallback mechanism (`agrigen.db`).</a:t>
            </a:r>
          </a:p>
          <a:p>
            <a:pPr>
              <a:spcAft>
                <a:spcPts val="600"/>
              </a:spcAft>
              <a:defRPr sz="1200">
                <a:solidFill>
                  <a:srgbClr val="F8FAFC"/>
                </a:solidFill>
              </a:defRPr>
            </a:pPr>
            <a:r>
              <a:t>•  Key Schemas: User profiles, farm plots, historical weather, market rates, diagnostic logs.</a:t>
            </a:r>
          </a:p>
          <a:p>
            <a:pPr>
              <a:spcAft>
                <a:spcPts val="600"/>
              </a:spcAft>
              <a:defRPr sz="1200">
                <a:solidFill>
                  <a:srgbClr val="F8FAFC"/>
                </a:solidFill>
              </a:defRPr>
            </a:pPr>
            <a:r>
              <a:t>•  Redis Caching: Fast session persistence and rate-limiting.</a:t>
            </a:r>
          </a:p>
        </p:txBody>
      </p:sp>
      <p:sp>
        <p:nvSpPr>
          <p:cNvPr id="6" name="Rounded Rectangle 5"/>
          <p:cNvSpPr/>
          <p:nvPr/>
        </p:nvSpPr>
        <p:spPr>
          <a:xfrm>
            <a:off x="6217920" y="1463040"/>
            <a:ext cx="52120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Containerization &amp; Local Dev</a:t>
            </a:r>
          </a:p>
          <a:p>
            <a:pPr>
              <a:spcAft>
                <a:spcPts val="600"/>
              </a:spcAft>
              <a:defRPr sz="1200">
                <a:solidFill>
                  <a:srgbClr val="F8FAFC"/>
                </a:solidFill>
              </a:defRPr>
            </a:pPr>
            <a:r>
              <a:t>•  Docker &amp; Docker Compose: Containerized backend, frontend, and database services.</a:t>
            </a:r>
          </a:p>
          <a:p>
            <a:pPr>
              <a:spcAft>
                <a:spcPts val="600"/>
              </a:spcAft>
              <a:defRPr sz="1200">
                <a:solidFill>
                  <a:srgbClr val="F8FAFC"/>
                </a:solidFill>
              </a:defRPr>
            </a:pPr>
            <a:r>
              <a:t>•  One-Click PowerShell Launcher (`run_local.ps1`): Launches backend and frontend concurrently.</a:t>
            </a:r>
          </a:p>
          <a:p>
            <a:pPr>
              <a:spcAft>
                <a:spcPts val="600"/>
              </a:spcAft>
              <a:defRPr sz="1200">
                <a:solidFill>
                  <a:srgbClr val="F8FAFC"/>
                </a:solidFill>
              </a:defRPr>
            </a:pPr>
            <a:r>
              <a:t>•  Virtual Environment Management: Custom virtual environment with patched hashlib dependencies.</a:t>
            </a:r>
          </a:p>
          <a:p>
            <a:pPr>
              <a:spcAft>
                <a:spcPts val="600"/>
              </a:spcAft>
              <a:defRPr sz="1200">
                <a:solidFill>
                  <a:srgbClr val="F8FAFC"/>
                </a:solidFill>
              </a:defRPr>
            </a:pPr>
            <a:r>
              <a:t>•  Production NGINX Config: Reverse proxy setup with SSL readiness.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Phase 1 Implementation Progress &amp; Key Milestones</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1 (Team Leader)</a:t>
            </a:r>
          </a:p>
        </p:txBody>
      </p:sp>
      <p:sp>
        <p:nvSpPr>
          <p:cNvPr id="5" name="Rounded Rectangle 4"/>
          <p:cNvSpPr/>
          <p:nvPr/>
        </p:nvSpPr>
        <p:spPr>
          <a:xfrm>
            <a:off x="731520" y="1463040"/>
            <a:ext cx="512064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Completed Deliverables (Phase 1)</a:t>
            </a:r>
          </a:p>
          <a:p>
            <a:pPr>
              <a:spcAft>
                <a:spcPts val="600"/>
              </a:spcAft>
              <a:defRPr sz="1200">
                <a:solidFill>
                  <a:srgbClr val="F8FAFC"/>
                </a:solidFill>
              </a:defRPr>
            </a:pPr>
            <a:r>
              <a:t>•  ✅ Functional Multi-Agent Workflow: LangGraph Supervisor with specialist agent nodes.</a:t>
            </a:r>
          </a:p>
          <a:p>
            <a:pPr>
              <a:spcAft>
                <a:spcPts val="600"/>
              </a:spcAft>
              <a:defRPr sz="1200">
                <a:solidFill>
                  <a:srgbClr val="F8FAFC"/>
                </a:solidFill>
              </a:defRPr>
            </a:pPr>
            <a:r>
              <a:t>•  ✅ Responsive React Dashboard: Operational charts, location picker, and floating chat widget.</a:t>
            </a:r>
          </a:p>
          <a:p>
            <a:pPr>
              <a:spcAft>
                <a:spcPts val="600"/>
              </a:spcAft>
              <a:defRPr sz="1200">
                <a:solidFill>
                  <a:srgbClr val="F8FAFC"/>
                </a:solidFill>
              </a:defRPr>
            </a:pPr>
            <a:r>
              <a:t>•  ✅ FastAPI Backend: Async REST routes, SSE streaming endpoint, and WeasyPrint PDF reports.</a:t>
            </a:r>
          </a:p>
          <a:p>
            <a:pPr>
              <a:spcAft>
                <a:spcPts val="600"/>
              </a:spcAft>
              <a:defRPr sz="1200">
                <a:solidFill>
                  <a:srgbClr val="F8FAFC"/>
                </a:solidFill>
              </a:defRPr>
            </a:pPr>
            <a:r>
              <a:t>•  ✅ Trained Machine Learning Baseline Models: PyTorch LSTMs &amp; Leaf Disease classifier.</a:t>
            </a:r>
          </a:p>
          <a:p>
            <a:pPr>
              <a:spcAft>
                <a:spcPts val="600"/>
              </a:spcAft>
              <a:defRPr sz="1200">
                <a:solidFill>
                  <a:srgbClr val="F8FAFC"/>
                </a:solidFill>
              </a:defRPr>
            </a:pPr>
            <a:r>
              <a:t>•  ✅ FAISS RAG Pipeline: Ingested agricultural research papers for advisory.</a:t>
            </a:r>
          </a:p>
        </p:txBody>
      </p:sp>
      <p:sp>
        <p:nvSpPr>
          <p:cNvPr id="6" name="Rounded Rectangle 5"/>
          <p:cNvSpPr/>
          <p:nvPr/>
        </p:nvSpPr>
        <p:spPr>
          <a:xfrm>
            <a:off x="6217920" y="1463040"/>
            <a:ext cx="52120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Testing &amp; Verification Progress</a:t>
            </a:r>
          </a:p>
          <a:p>
            <a:pPr>
              <a:spcAft>
                <a:spcPts val="600"/>
              </a:spcAft>
              <a:defRPr sz="1200">
                <a:solidFill>
                  <a:srgbClr val="F8FAFC"/>
                </a:solidFill>
              </a:defRPr>
            </a:pPr>
            <a:r>
              <a:t>•  End-to-End Local Execution: Successfully tested via `run_local.ps1`.</a:t>
            </a:r>
          </a:p>
          <a:p>
            <a:pPr>
              <a:spcAft>
                <a:spcPts val="600"/>
              </a:spcAft>
              <a:defRPr sz="1200">
                <a:solidFill>
                  <a:srgbClr val="F8FAFC"/>
                </a:solidFill>
              </a:defRPr>
            </a:pPr>
            <a:r>
              <a:t>•  Multilingual Voice Test: Verified STT/TTS in English, Hindi, and Telugu.</a:t>
            </a:r>
          </a:p>
          <a:p>
            <a:pPr>
              <a:spcAft>
                <a:spcPts val="600"/>
              </a:spcAft>
              <a:defRPr sz="1200">
                <a:solidFill>
                  <a:srgbClr val="F8FAFC"/>
                </a:solidFill>
              </a:defRPr>
            </a:pPr>
            <a:r>
              <a:t>•  API Test Coverage: Verified all `/api/v1/` routes with Swagger UI (`/docs`).</a:t>
            </a:r>
          </a:p>
          <a:p>
            <a:pPr>
              <a:spcAft>
                <a:spcPts val="600"/>
              </a:spcAft>
              <a:defRPr sz="1200">
                <a:solidFill>
                  <a:srgbClr val="F8FAFC"/>
                </a:solidFill>
              </a:defRPr>
            </a:pPr>
            <a:r>
              <a:t>•  Robustness Patching: Resolved Windows native C-extension DLL fallback issues.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Key Technical Challenges &amp; Engineering Solutions</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3 &amp; Member 4</a:t>
            </a:r>
          </a:p>
        </p:txBody>
      </p:sp>
      <p:sp>
        <p:nvSpPr>
          <p:cNvPr id="5" name="Rounded Rectangle 4"/>
          <p:cNvSpPr/>
          <p:nvPr/>
        </p:nvSpPr>
        <p:spPr>
          <a:xfrm>
            <a:off x="731520" y="1463040"/>
            <a:ext cx="3383280" cy="4754880"/>
          </a:xfrm>
          <a:prstGeom prst="round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LLM Hallucinations</a:t>
            </a:r>
          </a:p>
          <a:p>
            <a:pPr>
              <a:spcAft>
                <a:spcPts val="600"/>
              </a:spcAft>
              <a:defRPr sz="1200">
                <a:solidFill>
                  <a:srgbClr val="F8FAFC"/>
                </a:solidFill>
              </a:defRPr>
            </a:pPr>
            <a:r>
              <a:t>•  Challenge: Generic LLMs gave unsafe agricultural advice.</a:t>
            </a:r>
          </a:p>
          <a:p>
            <a:pPr>
              <a:spcAft>
                <a:spcPts val="600"/>
              </a:spcAft>
              <a:defRPr sz="1200">
                <a:solidFill>
                  <a:srgbClr val="F8FAFC"/>
                </a:solidFill>
              </a:defRPr>
            </a:pPr>
            <a:r>
              <a:t>•  Solution: Implemented FAISS RAG vector retriever with strict confidence scoring.</a:t>
            </a:r>
          </a:p>
        </p:txBody>
      </p:sp>
      <p:sp>
        <p:nvSpPr>
          <p:cNvPr id="6" name="Rounded Rectangle 5"/>
          <p:cNvSpPr/>
          <p:nvPr/>
        </p:nvSpPr>
        <p:spPr>
          <a:xfrm>
            <a:off x="4389120" y="1463040"/>
            <a:ext cx="33832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Multi-Agent Latency</a:t>
            </a:r>
          </a:p>
          <a:p>
            <a:pPr>
              <a:spcAft>
                <a:spcPts val="600"/>
              </a:spcAft>
              <a:defRPr sz="1200">
                <a:solidFill>
                  <a:srgbClr val="F8FAFC"/>
                </a:solidFill>
              </a:defRPr>
            </a:pPr>
            <a:r>
              <a:t>•  Challenge: Sequential agent calls caused response lag.</a:t>
            </a:r>
          </a:p>
          <a:p>
            <a:pPr>
              <a:spcAft>
                <a:spcPts val="600"/>
              </a:spcAft>
              <a:defRPr sz="1200">
                <a:solidFill>
                  <a:srgbClr val="F8FAFC"/>
                </a:solidFill>
              </a:defRPr>
            </a:pPr>
            <a:r>
              <a:t>•  Solution: Enabled Server-Sent Events (SSE) streaming for real-time response rendering.</a:t>
            </a:r>
          </a:p>
        </p:txBody>
      </p:sp>
      <p:sp>
        <p:nvSpPr>
          <p:cNvPr id="7" name="Rounded Rectangle 6"/>
          <p:cNvSpPr/>
          <p:nvPr/>
        </p:nvSpPr>
        <p:spPr>
          <a:xfrm>
            <a:off x="8046720" y="1463040"/>
            <a:ext cx="338328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Native C DLL Conflict</a:t>
            </a:r>
          </a:p>
          <a:p>
            <a:pPr>
              <a:spcAft>
                <a:spcPts val="600"/>
              </a:spcAft>
              <a:defRPr sz="1200">
                <a:solidFill>
                  <a:srgbClr val="F8FAFC"/>
                </a:solidFill>
              </a:defRPr>
            </a:pPr>
            <a:r>
              <a:t>•  Challenge: Windows App Control blocked `xxhash` DLL in `langgraph`.</a:t>
            </a:r>
          </a:p>
          <a:p>
            <a:pPr>
              <a:spcAft>
                <a:spcPts val="600"/>
              </a:spcAft>
              <a:defRPr sz="1200">
                <a:solidFill>
                  <a:srgbClr val="F8FAFC"/>
                </a:solidFill>
              </a:defRPr>
            </a:pPr>
            <a:r>
              <a:t>•  Solution: Patched `langgraph` with pure-python `hashlib` fallback.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Phase 2 Roadmap &amp; Future Scope</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5 (Machine Learning Lead)</a:t>
            </a:r>
          </a:p>
        </p:txBody>
      </p:sp>
      <p:sp>
        <p:nvSpPr>
          <p:cNvPr id="5" name="Rounded Rectangle 4"/>
          <p:cNvSpPr/>
          <p:nvPr/>
        </p:nvSpPr>
        <p:spPr>
          <a:xfrm>
            <a:off x="731520" y="1463040"/>
            <a:ext cx="512064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Phase 2 Feature Roadmap</a:t>
            </a:r>
          </a:p>
          <a:p>
            <a:pPr>
              <a:spcAft>
                <a:spcPts val="600"/>
              </a:spcAft>
              <a:defRPr sz="1200">
                <a:solidFill>
                  <a:srgbClr val="F8FAFC"/>
                </a:solidFill>
              </a:defRPr>
            </a:pPr>
            <a:r>
              <a:t>•  Edge Model Optimization: Quantize disease CNN to ONNX for offline mobile inference.</a:t>
            </a:r>
          </a:p>
          <a:p>
            <a:pPr>
              <a:spcAft>
                <a:spcPts val="600"/>
              </a:spcAft>
              <a:defRPr sz="1200">
                <a:solidFill>
                  <a:srgbClr val="F8FAFC"/>
                </a:solidFill>
              </a:defRPr>
            </a:pPr>
            <a:r>
              <a:t>•  IoT Smart Valve Integration: Direct relay control for autonomous irrigation based on weather LSTMs.</a:t>
            </a:r>
          </a:p>
          <a:p>
            <a:pPr>
              <a:spcAft>
                <a:spcPts val="600"/>
              </a:spcAft>
              <a:defRPr sz="1200">
                <a:solidFill>
                  <a:srgbClr val="F8FAFC"/>
                </a:solidFill>
              </a:defRPr>
            </a:pPr>
            <a:r>
              <a:t>•  Drone Orthomosaic Scanning: Processing aerial multispectral imagery for wide-area field analysis.</a:t>
            </a:r>
          </a:p>
          <a:p>
            <a:pPr>
              <a:spcAft>
                <a:spcPts val="600"/>
              </a:spcAft>
              <a:defRPr sz="1200">
                <a:solidFill>
                  <a:srgbClr val="F8FAFC"/>
                </a:solidFill>
              </a:defRPr>
            </a:pPr>
            <a:r>
              <a:t>•  Mandi Direct Trading: Automated market order execution at peak profitability windows.</a:t>
            </a:r>
          </a:p>
        </p:txBody>
      </p:sp>
      <p:sp>
        <p:nvSpPr>
          <p:cNvPr id="6" name="Rounded Rectangle 5"/>
          <p:cNvSpPr/>
          <p:nvPr/>
        </p:nvSpPr>
        <p:spPr>
          <a:xfrm>
            <a:off x="6217920" y="1463040"/>
            <a:ext cx="521208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Scalability &amp; Deployment</a:t>
            </a:r>
          </a:p>
          <a:p>
            <a:pPr>
              <a:spcAft>
                <a:spcPts val="600"/>
              </a:spcAft>
              <a:defRPr sz="1200">
                <a:solidFill>
                  <a:srgbClr val="F8FAFC"/>
                </a:solidFill>
              </a:defRPr>
            </a:pPr>
            <a:r>
              <a:t>•  Kubernetes Auto-Scaling: Elastic cluster scaling for CPU-intensive PyTorch inference.</a:t>
            </a:r>
          </a:p>
          <a:p>
            <a:pPr>
              <a:spcAft>
                <a:spcPts val="600"/>
              </a:spcAft>
              <a:defRPr sz="1200">
                <a:solidFill>
                  <a:srgbClr val="F8FAFC"/>
                </a:solidFill>
              </a:defRPr>
            </a:pPr>
            <a:r>
              <a:t>•  Satellite Telemetry Integration: Real-time Sentinel-2 NDVI crop health index ingestion.</a:t>
            </a:r>
          </a:p>
          <a:p>
            <a:pPr>
              <a:spcAft>
                <a:spcPts val="600"/>
              </a:spcAft>
              <a:defRPr sz="1200">
                <a:solidFill>
                  <a:srgbClr val="F8FAFC"/>
                </a:solidFill>
              </a:defRPr>
            </a:pPr>
            <a:r>
              <a:t>•  Vernacular Voice Expansion: Adding regional Indian dialects (Tamil, Kannada, Marathi).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Team Work Breakdown &amp; Individual Contribution Matrix</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6 (DevOps Lead)</a:t>
            </a:r>
          </a:p>
        </p:txBody>
      </p:sp>
      <p:sp>
        <p:nvSpPr>
          <p:cNvPr id="5" name="Rounded Rectangle 4"/>
          <p:cNvSpPr/>
          <p:nvPr/>
        </p:nvSpPr>
        <p:spPr>
          <a:xfrm>
            <a:off x="731520" y="1463040"/>
            <a:ext cx="1069848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6-Member Deliverables Breakdown</a:t>
            </a:r>
          </a:p>
          <a:p>
            <a:pPr>
              <a:spcAft>
                <a:spcPts val="600"/>
              </a:spcAft>
              <a:defRPr sz="1200">
                <a:solidFill>
                  <a:srgbClr val="F8FAFC"/>
                </a:solidFill>
              </a:defRPr>
            </a:pPr>
            <a:r>
              <a:t>•  Member 1 (Team Leader): Overall architecture design, supervisor workflow configuration, Phase 1 roadmap &amp; review lead.</a:t>
            </a:r>
          </a:p>
          <a:p>
            <a:pPr>
              <a:spcAft>
                <a:spcPts val="600"/>
              </a:spcAft>
              <a:defRPr sz="1200">
                <a:solidFill>
                  <a:srgbClr val="F8FAFC"/>
                </a:solidFill>
              </a:defRPr>
            </a:pPr>
            <a:r>
              <a:t>•  Member 2 (Frontend Specialist): React/Vite UI components, location picker, dynamic Chart.js dashboards &amp; voice widget.</a:t>
            </a:r>
          </a:p>
          <a:p>
            <a:pPr>
              <a:spcAft>
                <a:spcPts val="600"/>
              </a:spcAft>
              <a:defRPr sz="1200">
                <a:solidFill>
                  <a:srgbClr val="F8FAFC"/>
                </a:solidFill>
              </a:defRPr>
            </a:pPr>
            <a:r>
              <a:t>•  Member 3 (Backend Engineer): FastAPI orchestrator, SSE streaming endpoints, API routing structure &amp; WeasyPrint PDF reports.</a:t>
            </a:r>
          </a:p>
          <a:p>
            <a:pPr>
              <a:spcAft>
                <a:spcPts val="600"/>
              </a:spcAft>
              <a:defRPr sz="1200">
                <a:solidFill>
                  <a:srgbClr val="F8FAFC"/>
                </a:solidFill>
              </a:defRPr>
            </a:pPr>
            <a:r>
              <a:t>•  Member 4 (Multi-Agent &amp; RAG Specialist): LangGraph agent state machine, FAISS vector embeddings, agricultural RAG pipeline.</a:t>
            </a:r>
          </a:p>
          <a:p>
            <a:pPr>
              <a:spcAft>
                <a:spcPts val="600"/>
              </a:spcAft>
              <a:defRPr sz="1200">
                <a:solidFill>
                  <a:srgbClr val="F8FAFC"/>
                </a:solidFill>
              </a:defRPr>
            </a:pPr>
            <a:r>
              <a:t>•  Member 5 (Machine Learning Lead): PyTorch LSTM training (weather &amp; crop price forecasting) &amp; leaf disease vision classifier.</a:t>
            </a:r>
          </a:p>
          <a:p>
            <a:pPr>
              <a:spcAft>
                <a:spcPts val="600"/>
              </a:spcAft>
              <a:defRPr sz="1200">
                <a:solidFill>
                  <a:srgbClr val="F8FAFC"/>
                </a:solidFill>
              </a:defRPr>
            </a:pPr>
            <a:r>
              <a:t>•  Member 6 (DevOps &amp; Database Lead): PostgreSQL/SQLite data schemas, Docker Compose orchestration, Redis cache, local run script.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Live Demonstration &amp; Workflow Execution</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2 &amp; Team</a:t>
            </a:r>
          </a:p>
        </p:txBody>
      </p:sp>
      <p:pic>
        <p:nvPicPr>
          <p:cNvPr id="5" name="Picture 4" descr="agent_workflow.png"/>
          <p:cNvPicPr>
            <a:picLocks noChangeAspect="1"/>
          </p:cNvPicPr>
          <p:nvPr/>
        </p:nvPicPr>
        <p:blipFill>
          <a:blip r:embed="rId2"/>
          <a:stretch>
            <a:fillRect/>
          </a:stretch>
        </p:blipFill>
        <p:spPr>
          <a:xfrm>
            <a:off x="731520" y="1463040"/>
            <a:ext cx="5943600" cy="4754880"/>
          </a:xfrm>
          <a:prstGeom prst="rect">
            <a:avLst/>
          </a:prstGeom>
        </p:spPr>
      </p:pic>
      <p:sp>
        <p:nvSpPr>
          <p:cNvPr id="6" name="Rounded Rectangle 5"/>
          <p:cNvSpPr/>
          <p:nvPr/>
        </p:nvSpPr>
        <p:spPr>
          <a:xfrm>
            <a:off x="6858000" y="1463040"/>
            <a:ext cx="457200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Demo Highlights</a:t>
            </a:r>
          </a:p>
          <a:p>
            <a:pPr>
              <a:spcAft>
                <a:spcPts val="600"/>
              </a:spcAft>
              <a:defRPr sz="1200">
                <a:solidFill>
                  <a:srgbClr val="F8FAFC"/>
                </a:solidFill>
              </a:defRPr>
            </a:pPr>
            <a:r>
              <a:t>•  1. Dynamic Dashboard: Location picker updates local mandi prices &amp; weather forecasts.</a:t>
            </a:r>
          </a:p>
          <a:p>
            <a:pPr>
              <a:spcAft>
                <a:spcPts val="600"/>
              </a:spcAft>
              <a:defRPr sz="1200">
                <a:solidFill>
                  <a:srgbClr val="F8FAFC"/>
                </a:solidFill>
              </a:defRPr>
            </a:pPr>
            <a:r>
              <a:t>•  2. Voice Input: Querying crop advisory in Telugu/Hindi via voice button.</a:t>
            </a:r>
          </a:p>
          <a:p>
            <a:pPr>
              <a:spcAft>
                <a:spcPts val="600"/>
              </a:spcAft>
              <a:defRPr sz="1200">
                <a:solidFill>
                  <a:srgbClr val="F8FAFC"/>
                </a:solidFill>
              </a:defRPr>
            </a:pPr>
            <a:r>
              <a:t>•  3. Leaf Scanner: Uploading leaf photo -&gt; Instant disease detection &amp; organic remedies.</a:t>
            </a:r>
          </a:p>
          <a:p>
            <a:pPr>
              <a:spcAft>
                <a:spcPts val="600"/>
              </a:spcAft>
              <a:defRPr sz="1200">
                <a:solidFill>
                  <a:srgbClr val="F8FAFC"/>
                </a:solidFill>
              </a:defRPr>
            </a:pPr>
            <a:r>
              <a:t>•  4. PDF Generation: One-click export of farmer summary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PHASE 1 PROJECT REVIEW</a:t>
            </a:r>
          </a:p>
        </p:txBody>
      </p:sp>
      <p:sp>
        <p:nvSpPr>
          <p:cNvPr id="3" name="TextBox 2"/>
          <p:cNvSpPr txBox="1"/>
          <p:nvPr/>
        </p:nvSpPr>
        <p:spPr>
          <a:xfrm>
            <a:off x="731520" y="640080"/>
            <a:ext cx="7772400" cy="731520"/>
          </a:xfrm>
          <a:prstGeom prst="rect">
            <a:avLst/>
          </a:prstGeom>
          <a:noFill/>
        </p:spPr>
        <p:txBody>
          <a:bodyPr wrap="square">
            <a:spAutoFit/>
          </a:bodyPr>
          <a:lstStyle/>
          <a:p>
            <a:pPr>
              <a:defRPr sz="2200" b="1">
                <a:solidFill>
                  <a:srgbClr val="F8FAFC"/>
                </a:solidFill>
              </a:defRPr>
            </a:pPr>
            <a:r>
              <a:t>Conclusion &amp; Panel Q&amp;A Defense Strategy</a:t>
            </a:r>
          </a:p>
        </p:txBody>
      </p:sp>
      <p:sp>
        <p:nvSpPr>
          <p:cNvPr id="4" name="TextBox 3"/>
          <p:cNvSpPr txBox="1"/>
          <p:nvPr/>
        </p:nvSpPr>
        <p:spPr>
          <a:xfrm>
            <a:off x="8412480" y="594360"/>
            <a:ext cx="3017520" cy="731520"/>
          </a:xfrm>
          <a:prstGeom prst="rect">
            <a:avLst/>
          </a:prstGeom>
          <a:noFill/>
        </p:spPr>
        <p:txBody>
          <a:bodyPr wrap="square">
            <a:spAutoFit/>
          </a:bodyPr>
          <a:lstStyle/>
          <a:p>
            <a:pPr algn="r">
              <a:defRPr sz="1100" b="1">
                <a:solidFill>
                  <a:srgbClr val="34D399"/>
                </a:solidFill>
              </a:defRPr>
            </a:pPr>
            <a:r>
              <a:t>🎤 Presenter:</a:t>
            </a:r>
            <a:br/>
            <a:r>
              <a:t>Member 1 &amp; Team</a:t>
            </a:r>
          </a:p>
        </p:txBody>
      </p:sp>
      <p:sp>
        <p:nvSpPr>
          <p:cNvPr id="5" name="Rounded Rectangle 4"/>
          <p:cNvSpPr/>
          <p:nvPr/>
        </p:nvSpPr>
        <p:spPr>
          <a:xfrm>
            <a:off x="731520" y="1463040"/>
            <a:ext cx="5120640"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Summary of Phase 1 Readiness</a:t>
            </a:r>
          </a:p>
          <a:p>
            <a:pPr>
              <a:spcAft>
                <a:spcPts val="600"/>
              </a:spcAft>
              <a:defRPr sz="1200">
                <a:solidFill>
                  <a:srgbClr val="F8FAFC"/>
                </a:solidFill>
              </a:defRPr>
            </a:pPr>
            <a:r>
              <a:t>•  Fully Operational Prototype: All core modules integrated and tested locally.</a:t>
            </a:r>
          </a:p>
          <a:p>
            <a:pPr>
              <a:spcAft>
                <a:spcPts val="600"/>
              </a:spcAft>
              <a:defRPr sz="1200">
                <a:solidFill>
                  <a:srgbClr val="F8FAFC"/>
                </a:solidFill>
              </a:defRPr>
            </a:pPr>
            <a:r>
              <a:t>•  High Technical Rigor: Deep learning, microservices, and RAG working in unison.</a:t>
            </a:r>
          </a:p>
          <a:p>
            <a:pPr>
              <a:spcAft>
                <a:spcPts val="600"/>
              </a:spcAft>
              <a:defRPr sz="1200">
                <a:solidFill>
                  <a:srgbClr val="F8FAFC"/>
                </a:solidFill>
              </a:defRPr>
            </a:pPr>
            <a:r>
              <a:t>•  Social Impact: Empowers rural farmers with localized, accessible AI advisory.</a:t>
            </a:r>
          </a:p>
          <a:p>
            <a:pPr>
              <a:spcAft>
                <a:spcPts val="600"/>
              </a:spcAft>
              <a:defRPr sz="1200">
                <a:solidFill>
                  <a:srgbClr val="F8FAFC"/>
                </a:solidFill>
              </a:defRPr>
            </a:pPr>
            <a:r>
              <a:t>•  Prepared for Phase 2: Solid foundation established for IoT &amp; Edge expansion.</a:t>
            </a:r>
          </a:p>
        </p:txBody>
      </p:sp>
      <p:sp>
        <p:nvSpPr>
          <p:cNvPr id="6" name="Rounded Rectangle 5"/>
          <p:cNvSpPr/>
          <p:nvPr/>
        </p:nvSpPr>
        <p:spPr>
          <a:xfrm>
            <a:off x="6217920" y="1463040"/>
            <a:ext cx="5212080" cy="4754880"/>
          </a:xfrm>
          <a:prstGeom prst="round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000"/>
              </a:spcAft>
              <a:defRPr sz="1500" b="1">
                <a:solidFill>
                  <a:srgbClr val="38BDF8"/>
                </a:solidFill>
              </a:defRPr>
            </a:pPr>
            <a:r>
              <a:t>Thank You! Questions &amp; Discussion</a:t>
            </a:r>
          </a:p>
          <a:p>
            <a:pPr>
              <a:spcAft>
                <a:spcPts val="600"/>
              </a:spcAft>
              <a:defRPr sz="1200">
                <a:solidFill>
                  <a:srgbClr val="F8FAFC"/>
                </a:solidFill>
              </a:defRPr>
            </a:pPr>
            <a:r>
              <a:t>•  We welcome questions and feedback from our respected mentor and review panel.</a:t>
            </a:r>
          </a:p>
          <a:p>
            <a:pPr>
              <a:spcAft>
                <a:spcPts val="600"/>
              </a:spcAft>
              <a:defRPr sz="1200">
                <a:solidFill>
                  <a:srgbClr val="F8FAFC"/>
                </a:solidFill>
              </a:defRPr>
            </a:pPr>
            <a:r>
              <a:t>•  Project Repository: agriGen_AI</a:t>
            </a:r>
          </a:p>
          <a:p>
            <a:pPr>
              <a:spcAft>
                <a:spcPts val="600"/>
              </a:spcAft>
              <a:defRPr sz="1200">
                <a:solidFill>
                  <a:srgbClr val="F8FAFC"/>
                </a:solidFill>
              </a:defRPr>
            </a:pPr>
            <a:r>
              <a:t>•  Team Members: Members 1, 2, 3, 4, 5, 6</a:t>
            </a:r>
          </a:p>
          <a:p>
            <a:pPr>
              <a:spcAft>
                <a:spcPts val="600"/>
              </a:spcAft>
              <a:defRPr sz="1200">
                <a:solidFill>
                  <a:srgbClr val="F8FAFC"/>
                </a:solidFill>
              </a:defRPr>
            </a:pPr>
            <a:r>
              <a:t>•  Status: Ready for Phase 1 Sign-Off!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